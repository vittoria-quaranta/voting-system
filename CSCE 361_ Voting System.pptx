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163581-3FB7-40C9-BF0A-8690C90EBF29}">
  <a:tblStyle styleId="{ED163581-3FB7-40C9-BF0A-8690C90EBF2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acc56b76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acc56b76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acc56b76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acc56b76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acc56b7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acc56b7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6dfaf26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6dfaf26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acc56b76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dacc56b76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acc56b76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acc56b76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acc56b76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acc56b76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acc56b76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acc56b76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6ab9234d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e6ab9234d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acc56b76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acc56b76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b68d4c95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b68d4c95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8283" y="151120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
                <a:solidFill>
                  <a:srgbClr val="CC0000"/>
                </a:solidFill>
                <a:latin typeface="Times New Roman"/>
                <a:ea typeface="Times New Roman"/>
                <a:cs typeface="Times New Roman"/>
                <a:sym typeface="Times New Roman"/>
              </a:rPr>
              <a:t>CSCE 361: Voting System</a:t>
            </a:r>
            <a:endParaRPr b="1">
              <a:solidFill>
                <a:srgbClr val="CC0000"/>
              </a:solidFill>
              <a:latin typeface="Times New Roman"/>
              <a:ea typeface="Times New Roman"/>
              <a:cs typeface="Times New Roman"/>
              <a:sym typeface="Times New Roman"/>
            </a:endParaRPr>
          </a:p>
          <a:p>
            <a:pPr indent="0" lvl="0" marL="0" rtl="0" algn="ctr">
              <a:spcBef>
                <a:spcPts val="0"/>
              </a:spcBef>
              <a:spcAft>
                <a:spcPts val="0"/>
              </a:spcAft>
              <a:buNone/>
            </a:pPr>
            <a:r>
              <a:t/>
            </a:r>
            <a:endParaRPr b="1">
              <a:solidFill>
                <a:srgbClr val="CC0000"/>
              </a:solidFill>
              <a:latin typeface="Times New Roman"/>
              <a:ea typeface="Times New Roman"/>
              <a:cs typeface="Times New Roman"/>
              <a:sym typeface="Times New Roman"/>
            </a:endParaRPr>
          </a:p>
          <a:p>
            <a:pPr indent="0" lvl="0" marL="0" rtl="0" algn="ctr">
              <a:spcBef>
                <a:spcPts val="0"/>
              </a:spcBef>
              <a:spcAft>
                <a:spcPts val="0"/>
              </a:spcAft>
              <a:buNone/>
            </a:pPr>
            <a:r>
              <a:t/>
            </a:r>
            <a:endParaRPr b="1">
              <a:solidFill>
                <a:srgbClr val="CC0000"/>
              </a:solidFill>
              <a:latin typeface="Times New Roman"/>
              <a:ea typeface="Times New Roman"/>
              <a:cs typeface="Times New Roman"/>
              <a:sym typeface="Times New Roman"/>
            </a:endParaRPr>
          </a:p>
        </p:txBody>
      </p:sp>
      <p:sp>
        <p:nvSpPr>
          <p:cNvPr id="55" name="Google Shape;55;p13"/>
          <p:cNvSpPr txBox="1"/>
          <p:nvPr>
            <p:ph idx="1" type="subTitle"/>
          </p:nvPr>
        </p:nvSpPr>
        <p:spPr>
          <a:xfrm>
            <a:off x="426175" y="21412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700">
                <a:solidFill>
                  <a:schemeClr val="dk1"/>
                </a:solidFill>
                <a:latin typeface="Times New Roman"/>
                <a:ea typeface="Times New Roman"/>
                <a:cs typeface="Times New Roman"/>
                <a:sym typeface="Times New Roman"/>
              </a:rPr>
              <a:t>Group 9: Cameron Adkins, Yin Po Po Aung, Vittoria Quaranta, Sowparnika Sandhya</a:t>
            </a:r>
            <a:endParaRPr sz="33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CC0000"/>
                </a:solidFill>
                <a:latin typeface="Times New Roman"/>
                <a:ea typeface="Times New Roman"/>
                <a:cs typeface="Times New Roman"/>
                <a:sym typeface="Times New Roman"/>
              </a:rPr>
              <a:t>Agenda </a:t>
            </a:r>
            <a:endParaRPr>
              <a:solidFill>
                <a:srgbClr val="CC0000"/>
              </a:solidFill>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Vision and Scope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Architecture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Front end</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Backend</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Database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Unit testing</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CI Pipeline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Diversity</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62" name="Google Shape;62;p14"/>
          <p:cNvSpPr txBox="1"/>
          <p:nvPr>
            <p:ph type="title"/>
          </p:nvPr>
        </p:nvSpPr>
        <p:spPr>
          <a:xfrm>
            <a:off x="131400" y="4703625"/>
            <a:ext cx="91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200">
                <a:latin typeface="Times New Roman"/>
                <a:ea typeface="Times New Roman"/>
                <a:cs typeface="Times New Roman"/>
                <a:sym typeface="Times New Roman"/>
              </a:rPr>
              <a:t>Group 9: Cameron Adkins, Yin Po Po Aung, Vittoria Quaranta, Sowparnika Sandhya. Voting system </a:t>
            </a:r>
            <a:endParaRPr sz="1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CC0000"/>
                </a:solidFill>
                <a:latin typeface="Times New Roman"/>
                <a:ea typeface="Times New Roman"/>
                <a:cs typeface="Times New Roman"/>
                <a:sym typeface="Times New Roman"/>
              </a:rPr>
              <a:t>Vision and Scope</a:t>
            </a:r>
            <a:endParaRPr>
              <a:solidFill>
                <a:srgbClr val="CC0000"/>
              </a:solidFill>
              <a:latin typeface="Times New Roman"/>
              <a:ea typeface="Times New Roman"/>
              <a:cs typeface="Times New Roman"/>
              <a:sym typeface="Times New Roman"/>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Requirements:</a:t>
            </a:r>
            <a:endParaRPr>
              <a:solidFill>
                <a:schemeClr val="dk1"/>
              </a:solidFill>
              <a:latin typeface="Times New Roman"/>
              <a:ea typeface="Times New Roman"/>
              <a:cs typeface="Times New Roman"/>
              <a:sym typeface="Times New Roman"/>
            </a:endParaRPr>
          </a:p>
          <a:p>
            <a:pPr indent="-300038" lvl="0" marL="457200" rtl="0" algn="l">
              <a:spcBef>
                <a:spcPts val="120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Electronic voting system usable for future elections</a:t>
            </a:r>
            <a:endParaRPr>
              <a:solidFill>
                <a:schemeClr val="dk1"/>
              </a:solidFill>
              <a:latin typeface="Times New Roman"/>
              <a:ea typeface="Times New Roman"/>
              <a:cs typeface="Times New Roman"/>
              <a:sym typeface="Times New Roman"/>
            </a:endParaRPr>
          </a:p>
          <a:p>
            <a:pPr indent="-300038"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Allows voter to identify themselves through authentication</a:t>
            </a:r>
            <a:endParaRPr>
              <a:solidFill>
                <a:schemeClr val="dk1"/>
              </a:solidFill>
              <a:latin typeface="Times New Roman"/>
              <a:ea typeface="Times New Roman"/>
              <a:cs typeface="Times New Roman"/>
              <a:sym typeface="Times New Roman"/>
            </a:endParaRPr>
          </a:p>
          <a:p>
            <a:pPr indent="-300038"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After voting, the voter can review and change their selections, but they can only vote once per election</a:t>
            </a:r>
            <a:endParaRPr>
              <a:solidFill>
                <a:schemeClr val="dk1"/>
              </a:solidFill>
              <a:latin typeface="Times New Roman"/>
              <a:ea typeface="Times New Roman"/>
              <a:cs typeface="Times New Roman"/>
              <a:sym typeface="Times New Roman"/>
            </a:endParaRPr>
          </a:p>
          <a:p>
            <a:pPr indent="-300038"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Voting system determines winner</a:t>
            </a:r>
            <a:endParaRPr>
              <a:solidFill>
                <a:schemeClr val="dk1"/>
              </a:solidFill>
              <a:latin typeface="Times New Roman"/>
              <a:ea typeface="Times New Roman"/>
              <a:cs typeface="Times New Roman"/>
              <a:sym typeface="Times New Roman"/>
            </a:endParaRPr>
          </a:p>
          <a:p>
            <a:pPr indent="-300038"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Third party can see if a person voted but not who they voted for, that right is reserved only for the voter</a:t>
            </a:r>
            <a:endParaRPr>
              <a:solidFill>
                <a:schemeClr val="dk1"/>
              </a:solidFill>
              <a:latin typeface="Times New Roman"/>
              <a:ea typeface="Times New Roman"/>
              <a:cs typeface="Times New Roman"/>
              <a:sym typeface="Times New Roman"/>
            </a:endParaRPr>
          </a:p>
          <a:p>
            <a:pPr indent="-300038" lvl="0" marL="457200" rtl="0" algn="l">
              <a:spcBef>
                <a:spcPts val="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System allows an unlimited number of voters to vote from their own computers or from a shared computer at a polling location.</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chemeClr val="dk1"/>
                </a:solidFill>
                <a:latin typeface="Times New Roman"/>
                <a:ea typeface="Times New Roman"/>
                <a:cs typeface="Times New Roman"/>
                <a:sym typeface="Times New Roman"/>
              </a:rPr>
              <a:t>Will deliver:</a:t>
            </a:r>
            <a:endParaRPr>
              <a:solidFill>
                <a:schemeClr val="dk1"/>
              </a:solidFill>
              <a:latin typeface="Times New Roman"/>
              <a:ea typeface="Times New Roman"/>
              <a:cs typeface="Times New Roman"/>
              <a:sym typeface="Times New Roman"/>
            </a:endParaRPr>
          </a:p>
          <a:p>
            <a:pPr indent="-300038" lvl="0" marL="457200" rtl="0" algn="l">
              <a:spcBef>
                <a:spcPts val="120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Voting system that meets all requirements in a GUI</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chemeClr val="dk1"/>
                </a:solidFill>
                <a:latin typeface="Times New Roman"/>
                <a:ea typeface="Times New Roman"/>
                <a:cs typeface="Times New Roman"/>
                <a:sym typeface="Times New Roman"/>
              </a:rPr>
              <a:t>Will not deliver: </a:t>
            </a:r>
            <a:endParaRPr>
              <a:solidFill>
                <a:schemeClr val="dk1"/>
              </a:solidFill>
              <a:latin typeface="Times New Roman"/>
              <a:ea typeface="Times New Roman"/>
              <a:cs typeface="Times New Roman"/>
              <a:sym typeface="Times New Roman"/>
            </a:endParaRPr>
          </a:p>
          <a:p>
            <a:pPr indent="-300038" lvl="0" marL="457200" rtl="0" algn="l">
              <a:spcBef>
                <a:spcPts val="1200"/>
              </a:spcBef>
              <a:spcAft>
                <a:spcPts val="0"/>
              </a:spcAft>
              <a:buClr>
                <a:schemeClr val="dk1"/>
              </a:buClr>
              <a:buSzPct val="100000"/>
              <a:buFont typeface="Times New Roman"/>
              <a:buChar char="-"/>
            </a:pPr>
            <a:r>
              <a:rPr lang="en">
                <a:solidFill>
                  <a:schemeClr val="dk1"/>
                </a:solidFill>
                <a:latin typeface="Times New Roman"/>
                <a:ea typeface="Times New Roman"/>
                <a:cs typeface="Times New Roman"/>
                <a:sym typeface="Times New Roman"/>
              </a:rPr>
              <a:t>Authentication was taken to mean id and password. There is no validating that a person is a citizen who is eligible to vote and who is who they say they are. This is due to security concerns. This meets the project guidelines, but may hinder this from being used in a real election</a:t>
            </a:r>
            <a:endParaRPr>
              <a:solidFill>
                <a:schemeClr val="dk1"/>
              </a:solidFill>
              <a:latin typeface="Times New Roman"/>
              <a:ea typeface="Times New Roman"/>
              <a:cs typeface="Times New Roman"/>
              <a:sym typeface="Times New Roman"/>
            </a:endParaRPr>
          </a:p>
        </p:txBody>
      </p:sp>
      <p:sp>
        <p:nvSpPr>
          <p:cNvPr id="69" name="Google Shape;69;p15"/>
          <p:cNvSpPr txBox="1"/>
          <p:nvPr>
            <p:ph type="title"/>
          </p:nvPr>
        </p:nvSpPr>
        <p:spPr>
          <a:xfrm>
            <a:off x="131400" y="4703625"/>
            <a:ext cx="91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200">
                <a:latin typeface="Times New Roman"/>
                <a:ea typeface="Times New Roman"/>
                <a:cs typeface="Times New Roman"/>
                <a:sym typeface="Times New Roman"/>
              </a:rPr>
              <a:t>Group 9: Cameron Adkins, Yin Po Po Aung, Vittoria Quaranta, Sowparnika Sandhya. Voting system </a:t>
            </a:r>
            <a:endParaRPr sz="12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CC0000"/>
                </a:solidFill>
                <a:latin typeface="Times New Roman"/>
                <a:ea typeface="Times New Roman"/>
                <a:cs typeface="Times New Roman"/>
                <a:sym typeface="Times New Roman"/>
              </a:rPr>
              <a:t>Architecture</a:t>
            </a:r>
            <a:endParaRPr>
              <a:solidFill>
                <a:srgbClr val="CC0000"/>
              </a:solidFill>
              <a:latin typeface="Times New Roman"/>
              <a:ea typeface="Times New Roman"/>
              <a:cs typeface="Times New Roman"/>
              <a:sym typeface="Times New Roman"/>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Single Responsibility Principle (SRP) – we gave each class one responsibility.</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chemeClr val="dk1"/>
                </a:solidFill>
                <a:latin typeface="Times New Roman"/>
                <a:ea typeface="Times New Roman"/>
                <a:cs typeface="Times New Roman"/>
                <a:sym typeface="Times New Roman"/>
              </a:rPr>
              <a:t>Open Closed Principle (OCP) – we designed the system so new features can be added without modifying existing code.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chemeClr val="dk1"/>
                </a:solidFill>
                <a:latin typeface="Times New Roman"/>
                <a:ea typeface="Times New Roman"/>
                <a:cs typeface="Times New Roman"/>
                <a:sym typeface="Times New Roman"/>
              </a:rPr>
              <a:t>Liskov Substitution Principle (LSP) – we ensured subclasses can replace their parent classes without breaking functionality.</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chemeClr val="dk1"/>
                </a:solidFill>
                <a:latin typeface="Times New Roman"/>
                <a:ea typeface="Times New Roman"/>
                <a:cs typeface="Times New Roman"/>
                <a:sym typeface="Times New Roman"/>
              </a:rPr>
              <a:t>Interface Segregation Principle (ISP) – we created small, specific interfaces so classes only implement what they actually use.</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a:solidFill>
                  <a:schemeClr val="dk1"/>
                </a:solidFill>
                <a:latin typeface="Times New Roman"/>
                <a:ea typeface="Times New Roman"/>
                <a:cs typeface="Times New Roman"/>
                <a:sym typeface="Times New Roman"/>
              </a:rPr>
              <a:t>Dependency Injection Principle (DIP) – we made high-level modules depend on abstractions rather than concrete implementations.</a:t>
            </a:r>
            <a:endParaRPr>
              <a:solidFill>
                <a:schemeClr val="dk1"/>
              </a:solidFill>
              <a:latin typeface="Times New Roman"/>
              <a:ea typeface="Times New Roman"/>
              <a:cs typeface="Times New Roman"/>
              <a:sym typeface="Times New Roman"/>
            </a:endParaRPr>
          </a:p>
        </p:txBody>
      </p:sp>
      <p:sp>
        <p:nvSpPr>
          <p:cNvPr id="76" name="Google Shape;76;p16"/>
          <p:cNvSpPr txBox="1"/>
          <p:nvPr>
            <p:ph type="title"/>
          </p:nvPr>
        </p:nvSpPr>
        <p:spPr>
          <a:xfrm>
            <a:off x="131400" y="4703625"/>
            <a:ext cx="91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200">
                <a:latin typeface="Times New Roman"/>
                <a:ea typeface="Times New Roman"/>
                <a:cs typeface="Times New Roman"/>
                <a:sym typeface="Times New Roman"/>
              </a:rPr>
              <a:t>Group 9: Cameron Adkins, Yin Po Po Aung, Vittoria Quaranta, Sowparnika Sandhya. Voting system </a:t>
            </a:r>
            <a:endParaRPr sz="12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solidFill>
                  <a:srgbClr val="CC0000"/>
                </a:solidFill>
                <a:latin typeface="Times New Roman"/>
                <a:ea typeface="Times New Roman"/>
                <a:cs typeface="Times New Roman"/>
                <a:sym typeface="Times New Roman"/>
              </a:rPr>
              <a:t>Architecture Diagram</a:t>
            </a:r>
            <a:endParaRPr>
              <a:solidFill>
                <a:srgbClr val="CC0000"/>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pic>
        <p:nvPicPr>
          <p:cNvPr id="82" name="Google Shape;82;p17"/>
          <p:cNvPicPr preferRelativeResize="0"/>
          <p:nvPr/>
        </p:nvPicPr>
        <p:blipFill>
          <a:blip r:embed="rId3">
            <a:alphaModFix/>
          </a:blip>
          <a:stretch>
            <a:fillRect/>
          </a:stretch>
        </p:blipFill>
        <p:spPr>
          <a:xfrm>
            <a:off x="0" y="1034263"/>
            <a:ext cx="9144000" cy="30749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CC0000"/>
                </a:solidFill>
                <a:latin typeface="Times New Roman"/>
                <a:ea typeface="Times New Roman"/>
                <a:cs typeface="Times New Roman"/>
                <a:sym typeface="Times New Roman"/>
              </a:rPr>
              <a:t>Frontend</a:t>
            </a:r>
            <a:endParaRPr>
              <a:solidFill>
                <a:srgbClr val="CC0000"/>
              </a:solidFill>
              <a:latin typeface="Times New Roman"/>
              <a:ea typeface="Times New Roman"/>
              <a:cs typeface="Times New Roman"/>
              <a:sym typeface="Times New Roman"/>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Technologies: React App (Vite) , CSS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chemeClr val="dk1"/>
                </a:solidFill>
                <a:latin typeface="Times New Roman"/>
                <a:ea typeface="Times New Roman"/>
                <a:cs typeface="Times New Roman"/>
                <a:sym typeface="Times New Roman"/>
              </a:rPr>
              <a:t>Key User Interfaces</a:t>
            </a:r>
            <a:endParaRPr>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Secure Voter Login</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 Authenticates votes before access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Ballot Display and Selection</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 Allow users to make choices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Review and submit </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Let users verify their selections before locking them in</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Transparency Tools (Lookup &amp; Participation)</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Enables voters to securely verify their voting status and ballot</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Results</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 Display the </a:t>
            </a:r>
            <a:r>
              <a:rPr lang="en">
                <a:solidFill>
                  <a:schemeClr val="dk1"/>
                </a:solidFill>
                <a:latin typeface="Times New Roman"/>
                <a:ea typeface="Times New Roman"/>
                <a:cs typeface="Times New Roman"/>
                <a:sym typeface="Times New Roman"/>
              </a:rPr>
              <a:t>outcome</a:t>
            </a:r>
            <a:r>
              <a:rPr lang="en">
                <a:solidFill>
                  <a:schemeClr val="dk1"/>
                </a:solidFill>
                <a:latin typeface="Times New Roman"/>
                <a:ea typeface="Times New Roman"/>
                <a:cs typeface="Times New Roman"/>
                <a:sym typeface="Times New Roman"/>
              </a:rPr>
              <a:t> of the results</a:t>
            </a:r>
            <a:endParaRPr>
              <a:solidFill>
                <a:schemeClr val="dk1"/>
              </a:solidFill>
              <a:latin typeface="Times New Roman"/>
              <a:ea typeface="Times New Roman"/>
              <a:cs typeface="Times New Roman"/>
              <a:sym typeface="Times New Roman"/>
            </a:endParaRPr>
          </a:p>
        </p:txBody>
      </p:sp>
      <p:sp>
        <p:nvSpPr>
          <p:cNvPr id="89" name="Google Shape;89;p18"/>
          <p:cNvSpPr txBox="1"/>
          <p:nvPr>
            <p:ph type="title"/>
          </p:nvPr>
        </p:nvSpPr>
        <p:spPr>
          <a:xfrm>
            <a:off x="131400" y="4703625"/>
            <a:ext cx="91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200">
                <a:latin typeface="Times New Roman"/>
                <a:ea typeface="Times New Roman"/>
                <a:cs typeface="Times New Roman"/>
                <a:sym typeface="Times New Roman"/>
              </a:rPr>
              <a:t>Group 9: Cameron Adkins, Yin Po Po Aung, Vittoria Quaranta, Sowparnika Sandhya. Voting system </a:t>
            </a:r>
            <a:endParaRPr sz="1200">
              <a:latin typeface="Times New Roman"/>
              <a:ea typeface="Times New Roman"/>
              <a:cs typeface="Times New Roman"/>
              <a:sym typeface="Times New Roman"/>
            </a:endParaRPr>
          </a:p>
        </p:txBody>
      </p:sp>
      <p:pic>
        <p:nvPicPr>
          <p:cNvPr id="90" name="Google Shape;90;p18"/>
          <p:cNvPicPr preferRelativeResize="0"/>
          <p:nvPr/>
        </p:nvPicPr>
        <p:blipFill>
          <a:blip r:embed="rId3">
            <a:alphaModFix/>
          </a:blip>
          <a:stretch>
            <a:fillRect/>
          </a:stretch>
        </p:blipFill>
        <p:spPr>
          <a:xfrm>
            <a:off x="6006375" y="1193200"/>
            <a:ext cx="2825925" cy="30440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9"/>
          <p:cNvPicPr preferRelativeResize="0"/>
          <p:nvPr/>
        </p:nvPicPr>
        <p:blipFill>
          <a:blip r:embed="rId3">
            <a:alphaModFix/>
          </a:blip>
          <a:stretch>
            <a:fillRect/>
          </a:stretch>
        </p:blipFill>
        <p:spPr>
          <a:xfrm>
            <a:off x="4600827" y="471838"/>
            <a:ext cx="4543175" cy="4199826"/>
          </a:xfrm>
          <a:prstGeom prst="rect">
            <a:avLst/>
          </a:prstGeom>
          <a:noFill/>
          <a:ln>
            <a:noFill/>
          </a:ln>
        </p:spPr>
      </p:pic>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CC0000"/>
                </a:solidFill>
                <a:latin typeface="Times New Roman"/>
                <a:ea typeface="Times New Roman"/>
                <a:cs typeface="Times New Roman"/>
                <a:sym typeface="Times New Roman"/>
              </a:rPr>
              <a:t>Backend</a:t>
            </a:r>
            <a:endParaRPr>
              <a:solidFill>
                <a:srgbClr val="CC0000"/>
              </a:solidFill>
              <a:latin typeface="Times New Roman"/>
              <a:ea typeface="Times New Roman"/>
              <a:cs typeface="Times New Roman"/>
              <a:sym typeface="Times New Roman"/>
            </a:endParaRPr>
          </a:p>
        </p:txBody>
      </p:sp>
      <p:sp>
        <p:nvSpPr>
          <p:cNvPr id="97" name="Google Shape;97;p19"/>
          <p:cNvSpPr txBox="1"/>
          <p:nvPr>
            <p:ph idx="1" type="body"/>
          </p:nvPr>
        </p:nvSpPr>
        <p:spPr>
          <a:xfrm>
            <a:off x="131400" y="13495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Written in C#</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  API layer handles incoming requests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  Managers coordinate application workflows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  Engines enforce core voting logic</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  ResourceAccess connects to the database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  DataContracts share models across layers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  Layered design improves maintainability</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98" name="Google Shape;98;p19"/>
          <p:cNvSpPr txBox="1"/>
          <p:nvPr>
            <p:ph type="title"/>
          </p:nvPr>
        </p:nvSpPr>
        <p:spPr>
          <a:xfrm>
            <a:off x="131400" y="4703625"/>
            <a:ext cx="91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200">
                <a:latin typeface="Times New Roman"/>
                <a:ea typeface="Times New Roman"/>
                <a:cs typeface="Times New Roman"/>
                <a:sym typeface="Times New Roman"/>
              </a:rPr>
              <a:t>Group 9: Cameron Adkins, Yin Po Po Aung, Vittoria Quaranta, Sowparnika Sandhya. Voting system </a:t>
            </a:r>
            <a:endParaRPr sz="12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CC0000"/>
                </a:solidFill>
                <a:latin typeface="Times New Roman"/>
                <a:ea typeface="Times New Roman"/>
                <a:cs typeface="Times New Roman"/>
                <a:sym typeface="Times New Roman"/>
              </a:rPr>
              <a:t>Database</a:t>
            </a:r>
            <a:endParaRPr>
              <a:solidFill>
                <a:srgbClr val="CC0000"/>
              </a:solidFill>
              <a:latin typeface="Times New Roman"/>
              <a:ea typeface="Times New Roman"/>
              <a:cs typeface="Times New Roman"/>
              <a:sym typeface="Times New Roman"/>
            </a:endParaRPr>
          </a:p>
        </p:txBody>
      </p:sp>
      <p:sp>
        <p:nvSpPr>
          <p:cNvPr id="104" name="Google Shape;104;p20"/>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chemeClr val="dk1"/>
                </a:solidFill>
                <a:latin typeface="Times New Roman"/>
                <a:ea typeface="Times New Roman"/>
                <a:cs typeface="Times New Roman"/>
                <a:sym typeface="Times New Roman"/>
              </a:rPr>
              <a:t>Overview</a:t>
            </a:r>
            <a:endParaRPr b="1" sz="1500">
              <a:solidFill>
                <a:schemeClr val="dk1"/>
              </a:solidFill>
              <a:latin typeface="Times New Roman"/>
              <a:ea typeface="Times New Roman"/>
              <a:cs typeface="Times New Roman"/>
              <a:sym typeface="Times New Roman"/>
            </a:endParaRPr>
          </a:p>
          <a:p>
            <a:pPr indent="-323850" lvl="0" marL="457200" rtl="0" algn="l">
              <a:spcBef>
                <a:spcPts val="120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Built using Azure SQL Database</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Designed to ensure security, privacy, and integrity of votes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Separates voter identity from ballot selections</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a:solidFill>
                  <a:schemeClr val="dk1"/>
                </a:solidFill>
                <a:latin typeface="Times New Roman"/>
                <a:ea typeface="Times New Roman"/>
                <a:cs typeface="Times New Roman"/>
                <a:sym typeface="Times New Roman"/>
              </a:rPr>
              <a:t>Core Tables</a:t>
            </a:r>
            <a:endParaRPr b="1">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05" name="Google Shape;105;p20"/>
          <p:cNvSpPr txBox="1"/>
          <p:nvPr>
            <p:ph type="title"/>
          </p:nvPr>
        </p:nvSpPr>
        <p:spPr>
          <a:xfrm>
            <a:off x="131400" y="4703625"/>
            <a:ext cx="91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200">
                <a:latin typeface="Times New Roman"/>
                <a:ea typeface="Times New Roman"/>
                <a:cs typeface="Times New Roman"/>
                <a:sym typeface="Times New Roman"/>
              </a:rPr>
              <a:t>Group 9: Cameron Adkins, Yin Po Po Aung, Vittoria Quaranta, Sowparnika Sandhya. Voting system </a:t>
            </a:r>
            <a:endParaRPr sz="1200">
              <a:latin typeface="Times New Roman"/>
              <a:ea typeface="Times New Roman"/>
              <a:cs typeface="Times New Roman"/>
              <a:sym typeface="Times New Roman"/>
            </a:endParaRPr>
          </a:p>
        </p:txBody>
      </p:sp>
      <p:graphicFrame>
        <p:nvGraphicFramePr>
          <p:cNvPr id="106" name="Google Shape;106;p20"/>
          <p:cNvGraphicFramePr/>
          <p:nvPr/>
        </p:nvGraphicFramePr>
        <p:xfrm>
          <a:off x="1928275" y="2571750"/>
          <a:ext cx="3000000" cy="3000000"/>
        </p:xfrm>
        <a:graphic>
          <a:graphicData uri="http://schemas.openxmlformats.org/drawingml/2006/table">
            <a:tbl>
              <a:tblPr>
                <a:noFill/>
                <a:tableStyleId>{ED163581-3FB7-40C9-BF0A-8690C90EBF29}</a:tableStyleId>
              </a:tblPr>
              <a:tblGrid>
                <a:gridCol w="1263725"/>
                <a:gridCol w="5046725"/>
              </a:tblGrid>
              <a:tr h="4931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Voter</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Stores user info; ensures secure authentication</a:t>
                      </a:r>
                      <a:endParaRPr sz="1300">
                        <a:latin typeface="Times New Roman"/>
                        <a:ea typeface="Times New Roman"/>
                        <a:cs typeface="Times New Roman"/>
                        <a:sym typeface="Times New Roman"/>
                      </a:endParaRPr>
                    </a:p>
                  </a:txBody>
                  <a:tcPr marT="91425" marB="91425" marR="91425" marL="91425"/>
                </a:tc>
              </a:tr>
              <a:tr h="3205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Election</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Defines election period and status</a:t>
                      </a:r>
                      <a:endParaRPr sz="1300">
                        <a:latin typeface="Times New Roman"/>
                        <a:ea typeface="Times New Roman"/>
                        <a:cs typeface="Times New Roman"/>
                        <a:sym typeface="Times New Roman"/>
                      </a:endParaRPr>
                    </a:p>
                  </a:txBody>
                  <a:tcPr marT="91425" marB="91425" marR="91425" marL="91425"/>
                </a:tc>
              </a:tr>
              <a:tr h="493125">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Race</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Represents positions; supports both Candidate and Yes/No types</a:t>
                      </a:r>
                      <a:endParaRPr sz="1300">
                        <a:latin typeface="Times New Roman"/>
                        <a:ea typeface="Times New Roman"/>
                        <a:cs typeface="Times New Roman"/>
                        <a:sym typeface="Times New Roman"/>
                      </a:endParaRPr>
                    </a:p>
                  </a:txBody>
                  <a:tcPr marT="91425" marB="91425" marR="91425" marL="91425"/>
                </a:tc>
              </a:tr>
              <a:tr h="29325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Candidate</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Lists all candidates or option for each race</a:t>
                      </a:r>
                      <a:endParaRPr sz="13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CC0000"/>
                </a:solidFill>
                <a:latin typeface="Times New Roman"/>
                <a:ea typeface="Times New Roman"/>
                <a:cs typeface="Times New Roman"/>
                <a:sym typeface="Times New Roman"/>
              </a:rPr>
              <a:t>Unit testing</a:t>
            </a:r>
            <a:endParaRPr>
              <a:solidFill>
                <a:srgbClr val="CC0000"/>
              </a:solidFill>
              <a:latin typeface="Times New Roman"/>
              <a:ea typeface="Times New Roman"/>
              <a:cs typeface="Times New Roman"/>
              <a:sym typeface="Times New Roman"/>
            </a:endParaRPr>
          </a:p>
        </p:txBody>
      </p:sp>
      <p:sp>
        <p:nvSpPr>
          <p:cNvPr id="112" name="Google Shape;11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Backend unit tests are implemented in .NET 8 using MSTest.</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Current test suite: 58 tests, all passing locally.</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Current measured coverage from the local run:</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Managers + Engines: 98.8%</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Engines: 100%</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chemeClr val="dk1"/>
                </a:solidFill>
                <a:latin typeface="Times New Roman"/>
                <a:ea typeface="Times New Roman"/>
                <a:cs typeface="Times New Roman"/>
                <a:sym typeface="Times New Roman"/>
              </a:rPr>
              <a:t>Overall Coverage: 81.73%</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a:solidFill>
                  <a:schemeClr val="dk1"/>
                </a:solidFill>
                <a:latin typeface="Times New Roman"/>
                <a:ea typeface="Times New Roman"/>
                <a:cs typeface="Times New Roman"/>
                <a:sym typeface="Times New Roman"/>
              </a:rPr>
              <a:t>Coverage is reported by Coverlet.</a:t>
            </a:r>
            <a:endParaRPr>
              <a:solidFill>
                <a:schemeClr val="dk1"/>
              </a:solidFill>
              <a:latin typeface="Times New Roman"/>
              <a:ea typeface="Times New Roman"/>
              <a:cs typeface="Times New Roman"/>
              <a:sym typeface="Times New Roman"/>
            </a:endParaRPr>
          </a:p>
        </p:txBody>
      </p:sp>
      <p:sp>
        <p:nvSpPr>
          <p:cNvPr id="113" name="Google Shape;113;p21"/>
          <p:cNvSpPr txBox="1"/>
          <p:nvPr>
            <p:ph type="title"/>
          </p:nvPr>
        </p:nvSpPr>
        <p:spPr>
          <a:xfrm>
            <a:off x="131400" y="4703625"/>
            <a:ext cx="91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200">
                <a:latin typeface="Times New Roman"/>
                <a:ea typeface="Times New Roman"/>
                <a:cs typeface="Times New Roman"/>
                <a:sym typeface="Times New Roman"/>
              </a:rPr>
              <a:t>Group 9: Cameron Adkins, Yin Po Po Aung, Vittoria Quaranta, Sowparnika Sandhya. Voting system </a:t>
            </a:r>
            <a:endParaRPr sz="12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2" title="Actions.png"/>
          <p:cNvPicPr preferRelativeResize="0"/>
          <p:nvPr/>
        </p:nvPicPr>
        <p:blipFill>
          <a:blip r:embed="rId3">
            <a:alphaModFix/>
          </a:blip>
          <a:stretch>
            <a:fillRect/>
          </a:stretch>
        </p:blipFill>
        <p:spPr>
          <a:xfrm>
            <a:off x="243900" y="135899"/>
            <a:ext cx="8656199" cy="48717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CC0000"/>
                </a:solidFill>
                <a:latin typeface="Times New Roman"/>
                <a:ea typeface="Times New Roman"/>
                <a:cs typeface="Times New Roman"/>
                <a:sym typeface="Times New Roman"/>
              </a:rPr>
              <a:t>Diversity</a:t>
            </a:r>
            <a:endParaRPr>
              <a:solidFill>
                <a:srgbClr val="CC0000"/>
              </a:solidFill>
              <a:latin typeface="Times New Roman"/>
              <a:ea typeface="Times New Roman"/>
              <a:cs typeface="Times New Roman"/>
              <a:sym typeface="Times New Roman"/>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0000"/>
                </a:solidFill>
                <a:latin typeface="Times New Roman"/>
                <a:ea typeface="Times New Roman"/>
                <a:cs typeface="Times New Roman"/>
                <a:sym typeface="Times New Roman"/>
              </a:rPr>
              <a:t>We had lots of varying </a:t>
            </a:r>
            <a:r>
              <a:rPr lang="en">
                <a:solidFill>
                  <a:srgbClr val="000000"/>
                </a:solidFill>
                <a:latin typeface="Times New Roman"/>
                <a:ea typeface="Times New Roman"/>
                <a:cs typeface="Times New Roman"/>
                <a:sym typeface="Times New Roman"/>
              </a:rPr>
              <a:t>skill sets</a:t>
            </a:r>
            <a:r>
              <a:rPr lang="en">
                <a:solidFill>
                  <a:srgbClr val="000000"/>
                </a:solidFill>
                <a:latin typeface="Times New Roman"/>
                <a:ea typeface="Times New Roman"/>
                <a:cs typeface="Times New Roman"/>
                <a:sym typeface="Times New Roman"/>
              </a:rPr>
              <a:t> on this project. This allowed us to each use our strengths but also take on new challenges to grow. For example, not everyone in our group had experience working with </a:t>
            </a:r>
            <a:r>
              <a:rPr lang="en">
                <a:solidFill>
                  <a:srgbClr val="000000"/>
                </a:solidFill>
                <a:latin typeface="Times New Roman"/>
                <a:ea typeface="Times New Roman"/>
                <a:cs typeface="Times New Roman"/>
                <a:sym typeface="Times New Roman"/>
              </a:rPr>
              <a:t>databases</a:t>
            </a:r>
            <a:r>
              <a:rPr lang="en">
                <a:solidFill>
                  <a:srgbClr val="000000"/>
                </a:solidFill>
                <a:latin typeface="Times New Roman"/>
                <a:ea typeface="Times New Roman"/>
                <a:cs typeface="Times New Roman"/>
                <a:sym typeface="Times New Roman"/>
              </a:rPr>
              <a:t>, so they took on more of a front-end role. We were able to collaborate and help each other learn new skills, ranging from improving our Git proficiency to learning new architectures for designing a software engineering project. </a:t>
            </a:r>
            <a:endParaRPr>
              <a:solidFill>
                <a:srgbClr val="000000"/>
              </a:solidFill>
              <a:latin typeface="Times New Roman"/>
              <a:ea typeface="Times New Roman"/>
              <a:cs typeface="Times New Roman"/>
              <a:sym typeface="Times New Roman"/>
            </a:endParaRPr>
          </a:p>
        </p:txBody>
      </p:sp>
      <p:sp>
        <p:nvSpPr>
          <p:cNvPr id="125" name="Google Shape;125;p23"/>
          <p:cNvSpPr txBox="1"/>
          <p:nvPr>
            <p:ph type="title"/>
          </p:nvPr>
        </p:nvSpPr>
        <p:spPr>
          <a:xfrm>
            <a:off x="131400" y="4703625"/>
            <a:ext cx="91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200">
                <a:solidFill>
                  <a:srgbClr val="000000"/>
                </a:solidFill>
                <a:latin typeface="Times New Roman"/>
                <a:ea typeface="Times New Roman"/>
                <a:cs typeface="Times New Roman"/>
                <a:sym typeface="Times New Roman"/>
              </a:rPr>
              <a:t>Group 9: Cameron Adkins, Yin Po Po Aung, Vittoria Quaranta, Sowparnika Sandhya. Voting system </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2742000" y="2148600"/>
            <a:ext cx="3660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CC0000"/>
                </a:solidFill>
                <a:latin typeface="Times New Roman"/>
                <a:ea typeface="Times New Roman"/>
                <a:cs typeface="Times New Roman"/>
                <a:sym typeface="Times New Roman"/>
              </a:rPr>
              <a:t>Demo</a:t>
            </a:r>
            <a:endParaRPr>
              <a:solidFill>
                <a:srgbClr val="CC0000"/>
              </a:solidFill>
              <a:latin typeface="Times New Roman"/>
              <a:ea typeface="Times New Roman"/>
              <a:cs typeface="Times New Roman"/>
              <a:sym typeface="Times New Roman"/>
            </a:endParaRPr>
          </a:p>
        </p:txBody>
      </p:sp>
      <p:sp>
        <p:nvSpPr>
          <p:cNvPr id="131" name="Google Shape;131;p24"/>
          <p:cNvSpPr txBox="1"/>
          <p:nvPr>
            <p:ph type="title"/>
          </p:nvPr>
        </p:nvSpPr>
        <p:spPr>
          <a:xfrm>
            <a:off x="131400" y="4703625"/>
            <a:ext cx="91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200">
                <a:solidFill>
                  <a:srgbClr val="000000"/>
                </a:solidFill>
                <a:latin typeface="Times New Roman"/>
                <a:ea typeface="Times New Roman"/>
                <a:cs typeface="Times New Roman"/>
                <a:sym typeface="Times New Roman"/>
              </a:rPr>
              <a:t>Group 9: Cameron Adkins, Yin Po Po Aung, Vittoria Quaranta, Sowparnika Sandhya. Voting system </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